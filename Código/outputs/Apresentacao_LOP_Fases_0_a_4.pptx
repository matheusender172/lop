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926080"/>
            <a:ext cx="457200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7ACC"/>
                </a:solidFill>
                <a:latin typeface="Calibri"/>
              </a:defRPr>
            </a:pPr>
            <a:r>
              <a:t>MODELAGEM HÍBRIDA SERIAL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DE LIXIVIAÇÃO DE ZINCO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E0E0E0"/>
                </a:solidFill>
                <a:latin typeface="Calibri"/>
              </a:defRPr>
            </a:pPr>
            <a:r>
              <a:t>Apresentação Completa — Fases 0 a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0A4AE"/>
                </a:solidFill>
                <a:latin typeface="Calibri"/>
              </a:defRPr>
            </a:pPr>
            <a:r>
              <a:t>Projeto LOP — UFMG  •  Engenharia Química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80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0A4AE"/>
                </a:solidFill>
                <a:latin typeface="Calibri"/>
              </a:defRPr>
            </a:pPr>
            <a:r>
              <a:t>Base Experimental: Dissertação de Fabrício Bortot Coelho (UFMG, 2017)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0A4AE"/>
                </a:solidFill>
                <a:latin typeface="Calibri"/>
              </a:defRPr>
            </a:pPr>
            <a:r>
              <a:t>Setembro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Roadmap do Projeto — 12 Etapas em 5 Fases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194560" cy="5029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21945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109728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7276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FASE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Análise Exploratória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34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0.1  Cinética de Bancada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59872882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0.2  Granulometria RRB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1280160"/>
            <a:ext cx="2194560" cy="5029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97480" y="1280160"/>
            <a:ext cx="2194560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34640" y="1554480"/>
            <a:ext cx="1097280" cy="3657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157276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FASE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1031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Primeiros Princípios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834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1.1  Módulo Granulometria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59872882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1.2  Módulo Cinético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919742930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1.3  PBM + Baseline FPM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1280160"/>
            <a:ext cx="2194560" cy="5029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1280160"/>
            <a:ext cx="2194560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66360" y="1554480"/>
            <a:ext cx="109728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157276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FASE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21031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Problema Inverso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2834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2.1  Otimização e Alvos v(t)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60920" y="1280160"/>
            <a:ext cx="2194560" cy="5029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60920" y="1280160"/>
            <a:ext cx="219456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98080" y="1554480"/>
            <a:ext cx="109728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43800" y="157276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FASE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0" y="21031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Modelos Black-Box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0" y="2834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3.1  Partição 85/15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0" y="459872882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3.2  MLP / RF / SVR / XGB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92640" y="1280160"/>
            <a:ext cx="2194560" cy="5029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92640" y="1280160"/>
            <a:ext cx="2194560" cy="7315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829800" y="1554480"/>
            <a:ext cx="1097280" cy="36576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0" y="157276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FASE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9800" y="21031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Acoplamento Híbrido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29800" y="2834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4.1  Orquestrador Serial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800" y="459872882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4.2  Benchmark Triplo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286000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FASE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Análise Exploratória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0E0"/>
                </a:solidFill>
                <a:latin typeface="Calibri"/>
              </a:defRPr>
            </a:pPr>
            <a:r>
              <a:t>Visualização e validação dos dados cinéticos e granulométricos</a:t>
            </a:r>
            <a:br/>
            <a:r>
              <a:t>extraídos da dissertação de Fabrício Bortot Coelho (UFMG, 2017)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28600"/>
            <a:ext cx="109728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FASE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Etapa 0.1 — Curvas Cinéticas de Bancada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9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16 ensaios experimentais de lixiviação</a:t>
            </a:r>
          </a:p>
          <a:p>
            <a:pPr>
              <a:spcAft>
                <a:spcPts val="639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39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 Concentração de H₂SO₄: 0,10 a 1,50 mol/L</a:t>
            </a:r>
          </a:p>
          <a:p>
            <a:pPr>
              <a:spcAft>
                <a:spcPts val="639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 Razão molar η: 0,5 / 1,0 / 1,5 / 3,1</a:t>
            </a:r>
          </a:p>
          <a:p>
            <a:pPr>
              <a:spcAft>
                <a:spcPts val="639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 Temperatura: 40 °C (constante)</a:t>
            </a:r>
          </a:p>
          <a:p>
            <a:pPr>
              <a:spcAft>
                <a:spcPts val="639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 Tempo: 0 a 15 minutos</a:t>
            </a:r>
          </a:p>
          <a:p>
            <a:pPr>
              <a:spcAft>
                <a:spcPts val="639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39"/>
              </a:spcAft>
              <a:defRPr sz="1600" b="1">
                <a:solidFill>
                  <a:srgbClr val="00B4D8"/>
                </a:solidFill>
                <a:latin typeface="Calibri"/>
              </a:defRPr>
            </a:pPr>
            <a:r>
              <a:t>Observações Fundamentais:</a:t>
            </a:r>
          </a:p>
          <a:p>
            <a:pPr>
              <a:spcAft>
                <a:spcPts val="639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 &gt; 80% da extração em 30 segundos</a:t>
            </a:r>
          </a:p>
          <a:p>
            <a:pPr>
              <a:spcAft>
                <a:spcPts val="639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 Patamar final governado por η</a:t>
            </a:r>
          </a:p>
          <a:p>
            <a:pPr>
              <a:spcAft>
                <a:spcPts val="639"/>
              </a:spcAft>
              <a:defRPr sz="1400" b="0">
                <a:solidFill>
                  <a:srgbClr val="FFB700"/>
                </a:solidFill>
                <a:latin typeface="Calibri"/>
              </a:defRPr>
            </a:pPr>
            <a:r>
              <a:t>•  η = 0,5 → X_Zn ≈ 0,50</a:t>
            </a:r>
          </a:p>
          <a:p>
            <a:pPr>
              <a:spcAft>
                <a:spcPts val="639"/>
              </a:spcAft>
              <a:defRPr sz="1400" b="0">
                <a:solidFill>
                  <a:srgbClr val="2E7D32"/>
                </a:solidFill>
                <a:latin typeface="Calibri"/>
              </a:defRPr>
            </a:pPr>
            <a:r>
              <a:t>•  η = 3,1 → X_Zn ≈ 1,00</a:t>
            </a:r>
          </a:p>
        </p:txBody>
      </p:sp>
      <p:pic>
        <p:nvPicPr>
          <p:cNvPr id="8" name="Picture 7" descr="fig_01_curvas_cineticas_banc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97280"/>
            <a:ext cx="6858000" cy="52954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28600"/>
            <a:ext cx="109728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FASE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Etapa 0.2 — Distribuição Granulométrica RRB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9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Modelo Rosin-Rammler-Bennet</a:t>
            </a:r>
          </a:p>
          <a:p>
            <a:pPr>
              <a:spcAft>
                <a:spcPts val="639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39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 D₆₃,₂ = 41,65 µm  |  m = 1,022</a:t>
            </a:r>
          </a:p>
          <a:p>
            <a:pPr>
              <a:spcAft>
                <a:spcPts val="639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 ~60% das partículas &lt; 40 µm</a:t>
            </a:r>
          </a:p>
          <a:p>
            <a:pPr>
              <a:spcAft>
                <a:spcPts val="639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 Malha: 1500 nós em [0,01 ; 297] µm</a:t>
            </a:r>
          </a:p>
          <a:p>
            <a:pPr>
              <a:spcAft>
                <a:spcPts val="639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39"/>
              </a:spcAft>
              <a:defRPr sz="1600" b="1">
                <a:solidFill>
                  <a:srgbClr val="00B4D8"/>
                </a:solidFill>
                <a:latin typeface="Calibri"/>
              </a:defRPr>
            </a:pPr>
            <a:r>
              <a:t>Métricas de Ajuste:</a:t>
            </a:r>
          </a:p>
          <a:p>
            <a:pPr>
              <a:spcAft>
                <a:spcPts val="639"/>
              </a:spcAft>
              <a:defRPr sz="1500" b="0">
                <a:solidFill>
                  <a:srgbClr val="2E7D32"/>
                </a:solidFill>
                <a:latin typeface="Calibri"/>
              </a:defRPr>
            </a:pPr>
            <a:r>
              <a:t>•  R² = 0,9962</a:t>
            </a:r>
          </a:p>
          <a:p>
            <a:pPr>
              <a:spcAft>
                <a:spcPts val="639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 RMSE = 2,1%</a:t>
            </a:r>
          </a:p>
          <a:p>
            <a:pPr>
              <a:spcAft>
                <a:spcPts val="639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 MAE = 1,4%</a:t>
            </a:r>
          </a:p>
          <a:p>
            <a:pPr>
              <a:spcAft>
                <a:spcPts val="639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 Weibull R² = 0,9908</a:t>
            </a:r>
          </a:p>
        </p:txBody>
      </p:sp>
      <p:pic>
        <p:nvPicPr>
          <p:cNvPr id="8" name="Picture 7" descr="fig_02_granulometria_RR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97280"/>
            <a:ext cx="6858000" cy="53990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286000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FASE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Módulos de Primeiros Princípios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0E0"/>
                </a:solidFill>
                <a:latin typeface="Calibri"/>
              </a:defRPr>
            </a:pPr>
            <a:r>
              <a:t>Implementação dos módulos permanentes White-Box:</a:t>
            </a:r>
            <a:br/>
            <a:r>
              <a:t>Granulometria RRB  •  Cinética SCM  •  PBM Batelada  •  Baseline FPM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28600"/>
            <a:ext cx="109728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Etapas 1.1 e 1.2 — Granulometria + Cinética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303520" cy="5120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03520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Calibri"/>
              </a:defRPr>
            </a:pPr>
            <a:r>
              <a:t>Etapa 1.1 — granulometry.py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9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Classe RosinRammlerBennet</a:t>
            </a:r>
          </a:p>
          <a:p>
            <a:pPr>
              <a:spcAft>
                <a:spcPts val="639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39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•  F(D) = 1 - exp[-(D/D₆₃,₂)^m]</a:t>
            </a:r>
          </a:p>
          <a:p>
            <a:pPr>
              <a:spcAft>
                <a:spcPts val="639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•  Diâmetro médio: µ = 41,28 µm</a:t>
            </a:r>
          </a:p>
          <a:p>
            <a:pPr>
              <a:spcAft>
                <a:spcPts val="639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•  M₃(0) = 376.877 µm³ (precisão: 0,000005%)</a:t>
            </a:r>
          </a:p>
          <a:p>
            <a:pPr>
              <a:spcAft>
                <a:spcPts val="639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•  CV = 0,9785</a:t>
            </a:r>
          </a:p>
          <a:p>
            <a:pPr>
              <a:spcAft>
                <a:spcPts val="639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•  Domínio truncado no #50 Tyler (297 µm)</a:t>
            </a:r>
          </a:p>
          <a:p>
            <a:pPr>
              <a:spcAft>
                <a:spcPts val="639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39"/>
              </a:spcAft>
              <a:defRPr sz="1400" b="1">
                <a:solidFill>
                  <a:srgbClr val="2E7D32"/>
                </a:solidFill>
                <a:latin typeface="Calibri"/>
              </a:defRPr>
            </a:pPr>
            <a:r>
              <a:t>✓  Testes unitários: 100% aprovados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188720"/>
            <a:ext cx="5669280" cy="5120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188720"/>
            <a:ext cx="5669280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700"/>
                </a:solidFill>
                <a:latin typeface="Calibri"/>
              </a:defRPr>
            </a:pPr>
            <a:r>
              <a:t>Etapa 1.2 — kinetics.py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92024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9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Classe LeachingKinetics (SCM)</a:t>
            </a:r>
          </a:p>
          <a:p>
            <a:pPr>
              <a:spcAft>
                <a:spcPts val="639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39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•  v(D) = -(k_s · C_Af) / [1 + α·(C_A0 - C_Af)/(k_s·C_Af)]</a:t>
            </a:r>
          </a:p>
          <a:p>
            <a:pPr>
              <a:spcAft>
                <a:spcPts val="639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•  k_s = 520,0 µm·L/(mol·min)</a:t>
            </a:r>
          </a:p>
          <a:p>
            <a:pPr>
              <a:spcAft>
                <a:spcPts val="639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•  α = 5.500 µm/min (nominal, Bortot Coelho)</a:t>
            </a:r>
          </a:p>
          <a:p>
            <a:pPr>
              <a:spcAft>
                <a:spcPts val="639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•  Balanço de Herbst: C_Af = C_A0·[1 - X_Zn/η]</a:t>
            </a:r>
          </a:p>
          <a:p>
            <a:pPr>
              <a:spcAft>
                <a:spcPts val="639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•  Projeção física: v(D) ≤ 0 (nunca cresce)</a:t>
            </a:r>
          </a:p>
          <a:p>
            <a:pPr>
              <a:spcAft>
                <a:spcPts val="639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39"/>
              </a:spcAft>
              <a:defRPr sz="1400" b="1">
                <a:solidFill>
                  <a:srgbClr val="00B4D8"/>
                </a:solidFill>
                <a:latin typeface="Calibri"/>
              </a:defRPr>
            </a:pPr>
            <a:r>
              <a:t>Validação:</a:t>
            </a:r>
          </a:p>
          <a:p>
            <a:pPr>
              <a:spcAft>
                <a:spcPts val="639"/>
              </a:spcAft>
              <a:defRPr sz="1300" b="0">
                <a:solidFill>
                  <a:srgbClr val="2E7D32"/>
                </a:solidFill>
                <a:latin typeface="Calibri"/>
              </a:defRPr>
            </a:pPr>
            <a:r>
              <a:t>•  Balanço de Herbst vs. dados: R² = 0,9962</a:t>
            </a:r>
          </a:p>
          <a:p>
            <a:pPr>
              <a:spcAft>
                <a:spcPts val="639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•  Erro de η: 0,77% (máx. 3,71%)</a:t>
            </a:r>
          </a:p>
          <a:p>
            <a:pPr>
              <a:spcAft>
                <a:spcPts val="639"/>
              </a:spcAft>
              <a:defRPr sz="1400" b="1">
                <a:solidFill>
                  <a:srgbClr val="2E7D32"/>
                </a:solidFill>
                <a:latin typeface="Calibri"/>
              </a:defRPr>
            </a:pPr>
            <a:r>
              <a:t>✓  Testes unitários: 100% aprovados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28600"/>
            <a:ext cx="109728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Etapa 1.3 — O Coração do Modelo: PBM Batelada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9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Balanço Populacional via</a:t>
            </a:r>
          </a:p>
          <a:p>
            <a:pPr>
              <a:spcAft>
                <a:spcPts val="639"/>
              </a:spcAft>
              <a:defRPr sz="2000" b="1">
                <a:solidFill>
                  <a:srgbClr val="00B4D8"/>
                </a:solidFill>
                <a:latin typeface="Calibri"/>
              </a:defRPr>
            </a:pPr>
            <a:r>
              <a:t>Método das Características</a:t>
            </a:r>
          </a:p>
          <a:p>
            <a:pPr>
              <a:spcAft>
                <a:spcPts val="639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39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A EDP hiperbólica de transporte é</a:t>
            </a:r>
          </a:p>
          <a:p>
            <a:pPr>
              <a:spcAft>
                <a:spcPts val="639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colapsada em uma única EDO escalar:</a:t>
            </a:r>
          </a:p>
          <a:p>
            <a:pPr>
              <a:spcAft>
                <a:spcPts val="639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39"/>
              </a:spcAft>
              <a:defRPr sz="1800" b="1">
                <a:solidFill>
                  <a:srgbClr val="FFB700"/>
                </a:solidFill>
                <a:latin typeface="Calibri"/>
              </a:defRPr>
            </a:pPr>
            <a:r>
              <a:t>dδ/dt = |v(t)| ≥ 0,    δ(0) = 0</a:t>
            </a:r>
          </a:p>
          <a:p>
            <a:pPr>
              <a:spcAft>
                <a:spcPts val="639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39"/>
              </a:spcAft>
              <a:defRPr sz="1600" b="1">
                <a:solidFill>
                  <a:srgbClr val="00B4D8"/>
                </a:solidFill>
                <a:latin typeface="Calibri"/>
              </a:defRPr>
            </a:pPr>
            <a:r>
              <a:t>Os 4 Pilares:</a:t>
            </a:r>
          </a:p>
          <a:p>
            <a:pPr>
              <a:spcAft>
                <a:spcPts val="639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A. Método das Características: EDP → EDO</a:t>
            </a:r>
          </a:p>
          <a:p>
            <a:pPr>
              <a:spcAft>
                <a:spcPts val="639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B. Convolução + Pré-computação X_Zn(δ)</a:t>
            </a:r>
          </a:p>
          <a:p>
            <a:pPr>
              <a:spcAft>
                <a:spcPts val="639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C. Balanço de Herbst + corte termodinâmico</a:t>
            </a:r>
          </a:p>
          <a:p>
            <a:pPr>
              <a:spcAft>
                <a:spcPts val="639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D. Dualidade: modo direto e modo inverso</a:t>
            </a:r>
          </a:p>
        </p:txBody>
      </p:sp>
      <p:pic>
        <p:nvPicPr>
          <p:cNvPr id="8" name="Picture 7" descr="fig_esquema_encolhimento_particulas_del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5943600" cy="21880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28600"/>
            <a:ext cx="109728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Etapa 1.3 — Baseline FPM Puro (α = 5500 µm/min)</a:t>
            </a:r>
          </a:p>
        </p:txBody>
      </p:sp>
      <p:pic>
        <p:nvPicPr>
          <p:cNvPr id="7" name="Picture 6" descr="fig_03_baseline_fpm_vs_experim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447" y="1188720"/>
            <a:ext cx="6400800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0A4AE"/>
                </a:solidFill>
                <a:latin typeface="Calibri"/>
              </a:defRPr>
            </a:pPr>
            <a:r>
              <a:t>Figura 03 — Simulação dos 16 ensaios com o modelo mecanicista nominal  |  R² Global = 0,9030  |  RMSE = 10,10%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28600"/>
            <a:ext cx="109728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Comparação Tripla: α = 0  vs.  α = 5500  vs.  LOP</a:t>
            </a:r>
          </a:p>
        </p:txBody>
      </p:sp>
      <p:pic>
        <p:nvPicPr>
          <p:cNvPr id="7" name="Picture 6" descr="fig_comp_01_cinetica_16_ensa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858000" cy="5483328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79" y="1280160"/>
          <a:ext cx="49377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91440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Modelo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R² Global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Cinético Puro (α = 0)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0,9279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8,70%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6,05%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Nominal (α = 5500)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0,9030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10,10%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7,60%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Nova Abordagem LOP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0,9990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1,05%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0,71%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98079" y="347472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9"/>
              </a:spcAft>
              <a:defRPr sz="1600" b="1">
                <a:solidFill>
                  <a:srgbClr val="00B4D8"/>
                </a:solidFill>
                <a:latin typeface="Calibri"/>
              </a:defRPr>
            </a:pPr>
            <a:r>
              <a:t>Diagnóstico dos Desvios:</a:t>
            </a:r>
          </a:p>
          <a:p>
            <a:pPr>
              <a:spcAft>
                <a:spcPts val="639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39"/>
              </a:spcAft>
              <a:defRPr sz="1300" b="0">
                <a:solidFill>
                  <a:srgbClr val="E53935"/>
                </a:solidFill>
                <a:latin typeface="Calibri"/>
              </a:defRPr>
            </a:pPr>
            <a:r>
              <a:t>η = 0,5: FPM para em 38,3%</a:t>
            </a:r>
          </a:p>
          <a:p>
            <a:pPr>
              <a:spcAft>
                <a:spcPts val="639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   (experimento: 50,0%) → erro de 11,7%</a:t>
            </a:r>
          </a:p>
          <a:p>
            <a:pPr>
              <a:spcAft>
                <a:spcPts val="639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39"/>
              </a:spcAft>
              <a:defRPr sz="1300" b="0">
                <a:solidFill>
                  <a:srgbClr val="E53935"/>
                </a:solidFill>
                <a:latin typeface="Calibri"/>
              </a:defRPr>
            </a:pPr>
            <a:r>
              <a:t>η = 1,0: FPM para em 76,6%</a:t>
            </a:r>
          </a:p>
          <a:p>
            <a:pPr>
              <a:spcAft>
                <a:spcPts val="639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   (experimento: 85-87%) → erro de ~10%</a:t>
            </a:r>
          </a:p>
          <a:p>
            <a:pPr>
              <a:spcAft>
                <a:spcPts val="639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39"/>
              </a:spcAft>
              <a:defRPr sz="1400" b="1">
                <a:solidFill>
                  <a:srgbClr val="FFB700"/>
                </a:solidFill>
                <a:latin typeface="Calibri"/>
              </a:defRPr>
            </a:pPr>
            <a:r>
              <a:t>→ α constante não generaliza para</a:t>
            </a:r>
          </a:p>
          <a:p>
            <a:pPr>
              <a:spcAft>
                <a:spcPts val="639"/>
              </a:spcAft>
              <a:defRPr sz="1400" b="1">
                <a:solidFill>
                  <a:srgbClr val="FFB700"/>
                </a:solidFill>
                <a:latin typeface="Calibri"/>
              </a:defRPr>
            </a:pPr>
            <a:r>
              <a:t>   todos os regimes simultaneamente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28600"/>
            <a:ext cx="109728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Diagramas de Paridade e Resíduos — 3 Modelos</a:t>
            </a:r>
          </a:p>
        </p:txBody>
      </p:sp>
      <p:pic>
        <p:nvPicPr>
          <p:cNvPr id="7" name="Picture 6" descr="fig_comp_03_paridade_e_residu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188720"/>
            <a:ext cx="10515600" cy="48374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0A4AE"/>
                </a:solidFill>
                <a:latin typeface="Calibri"/>
              </a:defRPr>
            </a:pPr>
            <a:r>
              <a:t>Figura Comp. 03 — Paridade 1:1 e distribuição de resíduos para os 3 modelos nos 128 pontos experimentais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286000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FASE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Geração dos Alvos de Treinamento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0E0"/>
                </a:solidFill>
                <a:latin typeface="Calibri"/>
              </a:defRPr>
            </a:pPr>
            <a:r>
              <a:t>Problema Inverso: extrair a trajetória real de velocidade v(t)</a:t>
            </a:r>
            <a:br/>
            <a:r>
              <a:t>a partir dos dados experimentais via otimização parametrizada bi-exponencial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28600"/>
            <a:ext cx="109728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Etapa 2.1 — Otimização Inversa Parametrizada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9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O Problema Inverso</a:t>
            </a:r>
          </a:p>
          <a:p>
            <a:pPr>
              <a:spcAft>
                <a:spcPts val="639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39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Dado X_Zn(t) experimental, qual v(t)</a:t>
            </a:r>
          </a:p>
          <a:p>
            <a:pPr>
              <a:spcAft>
                <a:spcPts val="639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integrado pelo PBM reconstrói esses dados?</a:t>
            </a:r>
          </a:p>
          <a:p>
            <a:pPr>
              <a:spcAft>
                <a:spcPts val="639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39"/>
              </a:spcAft>
              <a:defRPr sz="1600" b="1">
                <a:solidFill>
                  <a:srgbClr val="00B4D8"/>
                </a:solidFill>
                <a:latin typeface="Calibri"/>
              </a:defRPr>
            </a:pPr>
            <a:r>
              <a:t>Parametrização Bi-Exponencial:</a:t>
            </a:r>
          </a:p>
          <a:p>
            <a:pPr>
              <a:spcAft>
                <a:spcPts val="639"/>
              </a:spcAft>
              <a:defRPr sz="1600" b="1">
                <a:solidFill>
                  <a:srgbClr val="FFB700"/>
                </a:solidFill>
                <a:latin typeface="Calibri"/>
              </a:defRPr>
            </a:pPr>
            <a:r>
              <a:t>|v(t)| = a₁·exp(-b₁·t) + a₂·exp(-b₂·t) + c</a:t>
            </a:r>
          </a:p>
          <a:p>
            <a:pPr>
              <a:spcAft>
                <a:spcPts val="639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39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•  Integração analítica fechada de δ(t)</a:t>
            </a:r>
          </a:p>
          <a:p>
            <a:pPr>
              <a:spcAft>
                <a:spcPts val="639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•  L-BFGS-B com multi-start</a:t>
            </a:r>
          </a:p>
          <a:p>
            <a:pPr>
              <a:spcAft>
                <a:spcPts val="639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•  Penalidade na cauda: v(15) → 0</a:t>
            </a:r>
          </a:p>
          <a:p>
            <a:pPr>
              <a:spcAft>
                <a:spcPts val="639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•  Penalidade no deslocamento: δ(15) ≤ 300 µm</a:t>
            </a:r>
          </a:p>
          <a:p>
            <a:pPr>
              <a:spcAft>
                <a:spcPts val="639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39"/>
              </a:spcAft>
              <a:defRPr sz="1800" b="1">
                <a:solidFill>
                  <a:srgbClr val="2E7D32"/>
                </a:solidFill>
                <a:latin typeface="Calibri"/>
              </a:defRPr>
            </a:pPr>
            <a:r>
              <a:t>Resultados:</a:t>
            </a:r>
          </a:p>
          <a:p>
            <a:pPr>
              <a:spcAft>
                <a:spcPts val="639"/>
              </a:spcAft>
              <a:defRPr sz="1600" b="1">
                <a:solidFill>
                  <a:srgbClr val="2E7D32"/>
                </a:solidFill>
                <a:latin typeface="Calibri"/>
              </a:defRPr>
            </a:pPr>
            <a:r>
              <a:t>•  R² Global = 0,99896</a:t>
            </a:r>
          </a:p>
          <a:p>
            <a:pPr>
              <a:spcAft>
                <a:spcPts val="639"/>
              </a:spcAft>
              <a:defRPr sz="1500" b="0">
                <a:solidFill>
                  <a:srgbClr val="2E7D32"/>
                </a:solidFill>
                <a:latin typeface="Calibri"/>
              </a:defRPr>
            </a:pPr>
            <a:r>
              <a:t>•  RMSE = 1,05%  |  MAE = 0,71%</a:t>
            </a:r>
          </a:p>
          <a:p>
            <a:pPr>
              <a:spcAft>
                <a:spcPts val="639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•  Tempo: &lt; 2 segundos (16 ensaios)</a:t>
            </a:r>
          </a:p>
        </p:txBody>
      </p:sp>
      <p:pic>
        <p:nvPicPr>
          <p:cNvPr id="8" name="Picture 7" descr="fig_curva_precomputada_e_inversao_pb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97280"/>
            <a:ext cx="5760720" cy="21881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28600"/>
            <a:ext cx="109728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Reconstrução da Conversão X_Zn — PBM com v(t) Otimizado</a:t>
            </a:r>
          </a:p>
        </p:txBody>
      </p:sp>
      <p:pic>
        <p:nvPicPr>
          <p:cNvPr id="7" name="Picture 6" descr="fig_04_reconstrucao_XZn_vs_experim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447" y="1188720"/>
            <a:ext cx="6400800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0A4AE"/>
                </a:solidFill>
                <a:latin typeface="Calibri"/>
              </a:defRPr>
            </a:pPr>
            <a:r>
              <a:t>Figura 04 — R² Global = 0,99896  |  RMSE = 1,05%  |  15/16 ensaios com R² &gt; 0,9959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28600"/>
            <a:ext cx="109728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Perfis Otimizados de Taxa de Retração |v(t)|</a:t>
            </a:r>
          </a:p>
        </p:txBody>
      </p:sp>
      <p:pic>
        <p:nvPicPr>
          <p:cNvPr id="7" name="Picture 6" descr="fig_05_curvas_v_otimiza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447" y="1188720"/>
            <a:ext cx="6400800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0A4AE"/>
                </a:solidFill>
                <a:latin typeface="Calibri"/>
              </a:defRPr>
            </a:pPr>
            <a:r>
              <a:t>Figura 05 — 4 ordens de magnitude: de ~1200 µm/min (t &lt; 15s) até &lt; 0,01 µm/min (t = 15 min)  →  motivação para compressão ln(1+|v|)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286000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FASE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Modelos Orientados por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0E0"/>
                </a:solidFill>
                <a:latin typeface="Calibri"/>
              </a:defRPr>
            </a:pPr>
            <a:r>
              <a:t>Treinamento supervisionado de 4 algoritmos de ML</a:t>
            </a:r>
            <a:br/>
            <a:r>
              <a:t>para predição da taxa de retração |v(t)|  •  Seleção por MCDA multicritério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28600"/>
            <a:ext cx="109728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FASE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Etapa 3.1 — Partição Experimental 85/15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9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Estratégia de Partição</a:t>
            </a:r>
          </a:p>
          <a:p>
            <a:pPr>
              <a:spcAft>
                <a:spcPts val="639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39"/>
              </a:spcAft>
              <a:defRPr sz="1600" b="1">
                <a:solidFill>
                  <a:srgbClr val="00B4D8"/>
                </a:solidFill>
                <a:latin typeface="Calibri"/>
              </a:defRPr>
            </a:pPr>
            <a:r>
              <a:t>Treino: 13 ensaios (81,25%)</a:t>
            </a:r>
          </a:p>
          <a:p>
            <a:pPr>
              <a:spcAft>
                <a:spcPts val="639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•  793 amostras densas</a:t>
            </a:r>
          </a:p>
          <a:p>
            <a:pPr>
              <a:spcAft>
                <a:spcPts val="639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•  Todos os 4 vértices do espaço fatorial</a:t>
            </a:r>
          </a:p>
          <a:p>
            <a:pPr>
              <a:spcAft>
                <a:spcPts val="639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•  Todos os ensaios de η = 0,5 mantidos</a:t>
            </a:r>
          </a:p>
          <a:p>
            <a:pPr>
              <a:spcAft>
                <a:spcPts val="639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39"/>
              </a:spcAft>
              <a:defRPr sz="1600" b="1">
                <a:solidFill>
                  <a:srgbClr val="FFB700"/>
                </a:solidFill>
                <a:latin typeface="Calibri"/>
              </a:defRPr>
            </a:pPr>
            <a:r>
              <a:t>Teste Cego: 3 ensaios (18,75%)</a:t>
            </a:r>
          </a:p>
          <a:p>
            <a:pPr>
              <a:spcAft>
                <a:spcPts val="639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•  183 amostras densas intocadas</a:t>
            </a:r>
          </a:p>
          <a:p>
            <a:pPr>
              <a:spcAft>
                <a:spcPts val="639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•  Ensaio 7  (η = 3,1; C_A0 = 0,50)</a:t>
            </a:r>
          </a:p>
          <a:p>
            <a:pPr>
              <a:spcAft>
                <a:spcPts val="639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•  Ensaio 8  (η = 1,0; C_A0 = 0,50)</a:t>
            </a:r>
          </a:p>
          <a:p>
            <a:pPr>
              <a:spcAft>
                <a:spcPts val="639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•  Ensaio 14 (η = 1,5; C_A0 = 1,00)</a:t>
            </a:r>
          </a:p>
          <a:p>
            <a:pPr>
              <a:spcAft>
                <a:spcPts val="639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39"/>
              </a:spcAft>
              <a:defRPr sz="1500" b="1">
                <a:solidFill>
                  <a:srgbClr val="00B4D8"/>
                </a:solidFill>
                <a:latin typeface="Calibri"/>
              </a:defRPr>
            </a:pPr>
            <a:r>
              <a:t>Validação Cruzada:</a:t>
            </a:r>
          </a:p>
          <a:p>
            <a:pPr>
              <a:spcAft>
                <a:spcPts val="639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•  GroupKFold com 4 dobras</a:t>
            </a:r>
          </a:p>
          <a:p>
            <a:pPr>
              <a:spcAft>
                <a:spcPts val="639"/>
              </a:spcAft>
              <a:defRPr sz="1300" b="1">
                <a:solidFill>
                  <a:srgbClr val="2E7D32"/>
                </a:solidFill>
                <a:latin typeface="Calibri"/>
              </a:defRPr>
            </a:pPr>
            <a:r>
              <a:t>•  Zero vazamento de dados</a:t>
            </a:r>
          </a:p>
        </p:txBody>
      </p:sp>
      <p:pic>
        <p:nvPicPr>
          <p:cNvPr id="8" name="Picture 7" descr="fig_06_particao_espaco_experime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6675120" cy="487724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28600"/>
            <a:ext cx="109728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FASE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Etapa 3.2 — Os 4 Modelos Black-Box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743200" cy="2743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2743200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71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Calibri"/>
              </a:defRPr>
            </a:pPr>
            <a:r>
              <a:t>MLP (PyTorch)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28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0A4AE"/>
                </a:solidFill>
                <a:latin typeface="Calibri"/>
              </a:defRPr>
            </a:pPr>
            <a:r>
              <a:t>Rede Neural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860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[128, 64, 32], GELU + Softplus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188720"/>
            <a:ext cx="2743200" cy="2743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1188720"/>
            <a:ext cx="274320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1371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1828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0A4AE"/>
                </a:solidFill>
                <a:latin typeface="Calibri"/>
              </a:defRPr>
            </a:pPr>
            <a:r>
              <a:t>Ensemble Paralelo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2860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100 árvores, max_depth=6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188720"/>
            <a:ext cx="2743200" cy="2743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188720"/>
            <a:ext cx="274320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371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53935"/>
                </a:solidFill>
                <a:latin typeface="Calibri"/>
              </a:defRPr>
            </a:pPr>
            <a:r>
              <a:t>SVR RBF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1828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0A4AE"/>
                </a:solidFill>
                <a:latin typeface="Calibri"/>
              </a:defRPr>
            </a:pPr>
            <a:r>
              <a:t>Kernel Gaussiano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2860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C=100, ε=0,10, γ=0,50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1188720"/>
            <a:ext cx="2743200" cy="2743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60" y="1188720"/>
            <a:ext cx="2743200" cy="5486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1371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700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1828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0A4AE"/>
                </a:solidFill>
                <a:latin typeface="Calibri"/>
              </a:defRPr>
            </a:pPr>
            <a:r>
              <a:t>Gradient Boosting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2860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150 árvores, lr=0,05, md=8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20624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9"/>
              </a:spcAft>
              <a:defRPr sz="1700" b="1">
                <a:solidFill>
                  <a:srgbClr val="00B4D8"/>
                </a:solidFill>
                <a:latin typeface="Calibri"/>
              </a:defRPr>
            </a:pPr>
            <a:r>
              <a:t>Características Universais dos 4 Modelos:</a:t>
            </a:r>
          </a:p>
          <a:p>
            <a:pPr>
              <a:spcAft>
                <a:spcPts val="639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 Target comprimido: y = ln(1 + |v|)  →  equaliza 4 ordens de magnitude</a:t>
            </a:r>
          </a:p>
          <a:p>
            <a:pPr>
              <a:spcAft>
                <a:spcPts val="639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 Projeção física: |v̂| = exp(ŷ) - 1 ≥ 0  →  0,00% de violações termodinâmicas</a:t>
            </a:r>
          </a:p>
          <a:p>
            <a:pPr>
              <a:spcAft>
                <a:spcPts val="639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 Features: [T, C_A0, η, t]  →  4 descritores operacionais</a:t>
            </a:r>
          </a:p>
          <a:p>
            <a:pPr>
              <a:spcAft>
                <a:spcPts val="639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 Avaliação: Treino (793 pts) + GroupKFold 4 dobras + Teste Cego intocado (183 pts)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28600"/>
            <a:ext cx="109728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FASE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Random Forest — Predições |v(t)| nos 16 Ensaios</a:t>
            </a:r>
          </a:p>
        </p:txBody>
      </p:sp>
      <p:pic>
        <p:nvPicPr>
          <p:cNvPr id="7" name="Picture 6" descr="fig_08b_predicoes_v_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047" y="1188720"/>
            <a:ext cx="6705600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0A4AE"/>
                </a:solidFill>
                <a:latin typeface="Calibri"/>
              </a:defRPr>
            </a:pPr>
            <a:r>
              <a:t>Figura 08b — Trajetórias de velocidade preditas pelo RF (linha azul/vermelha) vs. alvos exatos (pontos cinza) nos 16 ensaios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28600"/>
            <a:ext cx="109728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FASE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Random Forest — Importância de Features e Superfície 3D</a:t>
            </a:r>
          </a:p>
        </p:txBody>
      </p:sp>
      <p:pic>
        <p:nvPicPr>
          <p:cNvPr id="7" name="Picture 6" descr="fig_08a_importancia_features_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029200" cy="2057400"/>
          </a:xfrm>
          <a:prstGeom prst="rect">
            <a:avLst/>
          </a:prstGeom>
        </p:spPr>
      </p:pic>
      <p:pic>
        <p:nvPicPr>
          <p:cNvPr id="8" name="Picture 7" descr="fig_08h_superficie_resposta_2d_3d_r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97280"/>
            <a:ext cx="6400800" cy="2560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4320" y="50292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9"/>
              </a:spcAft>
              <a:defRPr sz="1400" b="1">
                <a:solidFill>
                  <a:srgbClr val="00B4D8"/>
                </a:solidFill>
                <a:latin typeface="Calibri"/>
              </a:defRPr>
            </a:pPr>
            <a:r>
              <a:t>Importância dos Atributos:</a:t>
            </a:r>
          </a:p>
          <a:p>
            <a:pPr>
              <a:spcAft>
                <a:spcPts val="639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•  Tempo (t): 69,5%  •  η: 18,6%  •  C_A0: 11,9%  •  T: 0,0%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28600"/>
            <a:ext cx="109728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FASE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Subetapa 3.2.5 — Seleção do Modelo Campeão (MCDA)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9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Matriz de Decisão Multicritério</a:t>
            </a:r>
          </a:p>
          <a:p>
            <a:pPr>
              <a:spcAft>
                <a:spcPts val="639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39"/>
              </a:spcAft>
              <a:defRPr sz="1500" b="1">
                <a:solidFill>
                  <a:srgbClr val="00B4D8"/>
                </a:solidFill>
                <a:latin typeface="Calibri"/>
              </a:defRPr>
            </a:pPr>
            <a:r>
              <a:t>Critérios e Pesos:</a:t>
            </a:r>
          </a:p>
          <a:p>
            <a:pPr>
              <a:spcAft>
                <a:spcPts val="639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30%  Generalização no Teste Cego</a:t>
            </a:r>
          </a:p>
          <a:p>
            <a:pPr>
              <a:spcAft>
                <a:spcPts val="639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25%  Robustez Espacial em CV</a:t>
            </a:r>
          </a:p>
          <a:p>
            <a:pPr>
              <a:spcAft>
                <a:spcPts val="639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20%  Precisão Residual (1/RMSE)</a:t>
            </a:r>
          </a:p>
          <a:p>
            <a:pPr>
              <a:spcAft>
                <a:spcPts val="639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15%  Velocidade Computacional</a:t>
            </a:r>
          </a:p>
          <a:p>
            <a:pPr>
              <a:spcAft>
                <a:spcPts val="639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10%  Suavidade Derivativa para PBM</a:t>
            </a:r>
          </a:p>
          <a:p>
            <a:pPr>
              <a:spcAft>
                <a:spcPts val="639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39"/>
              </a:spcAft>
              <a:defRPr sz="1800" b="1">
                <a:solidFill>
                  <a:srgbClr val="FFB700"/>
                </a:solidFill>
                <a:latin typeface="Calibri"/>
              </a:defRPr>
            </a:pPr>
            <a:r>
              <a:t>🥇  Random Forest  →  79,50 pts</a:t>
            </a:r>
          </a:p>
          <a:p>
            <a:pPr>
              <a:spcAft>
                <a:spcPts val="639"/>
              </a:spcAft>
              <a:defRPr sz="1500" b="1">
                <a:solidFill>
                  <a:srgbClr val="E0E0E0"/>
                </a:solidFill>
                <a:latin typeface="Calibri"/>
              </a:defRPr>
            </a:pPr>
            <a:r>
              <a:t>🥈  XGBoost  →  71,30 pts</a:t>
            </a:r>
          </a:p>
          <a:p>
            <a:pPr>
              <a:spcAft>
                <a:spcPts val="639"/>
              </a:spcAft>
              <a:defRPr sz="1500" b="1">
                <a:solidFill>
                  <a:srgbClr val="E0E0E0"/>
                </a:solidFill>
                <a:latin typeface="Calibri"/>
              </a:defRPr>
            </a:pPr>
            <a:r>
              <a:t>🥉  MLP (PyTorch)  →  67,16 pts</a:t>
            </a:r>
          </a:p>
          <a:p>
            <a:pPr>
              <a:spcAft>
                <a:spcPts val="639"/>
              </a:spcAft>
              <a:defRPr sz="1400" b="0">
                <a:solidFill>
                  <a:srgbClr val="90A4AE"/>
                </a:solidFill>
                <a:latin typeface="Calibri"/>
              </a:defRPr>
            </a:pPr>
            <a:r>
              <a:t>4º  SVR RBF  →  20,94 pts</a:t>
            </a:r>
          </a:p>
        </p:txBody>
      </p:sp>
      <p:pic>
        <p:nvPicPr>
          <p:cNvPr id="8" name="Picture 7" descr="fig_11e_radar_selecao_campe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05840"/>
            <a:ext cx="57607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28600"/>
            <a:ext cx="109728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FASE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Comparativo Global de Métricas — 4 Modelos Black-Box</a:t>
            </a:r>
          </a:p>
        </p:txBody>
      </p:sp>
      <p:pic>
        <p:nvPicPr>
          <p:cNvPr id="7" name="Picture 6" descr="fig_11a_comparativo_global_metr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188720"/>
            <a:ext cx="10515600" cy="41311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0A4AE"/>
                </a:solidFill>
                <a:latin typeface="Calibri"/>
              </a:defRPr>
            </a:pPr>
            <a:r>
              <a:t>Figura 11a — Barras de R², RMSE e MAE por partição (Treino / CV / Teste Cego) para os 4 modelos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28600"/>
            <a:ext cx="109728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FASE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Paridade Consolidada — 4 Modelos (Painel 2×2)</a:t>
            </a:r>
          </a:p>
        </p:txBody>
      </p:sp>
      <p:pic>
        <p:nvPicPr>
          <p:cNvPr id="7" name="Picture 6" descr="fig_11b_paridade_consolidada_4_mode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047" y="1188720"/>
            <a:ext cx="5943600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0A4AE"/>
                </a:solidFill>
                <a:latin typeface="Calibri"/>
              </a:defRPr>
            </a:pPr>
            <a:r>
              <a:t>Figura 11b — Diagramas de paridade 1:1 com faixas de ±10% para MLP, Random Forest, SVR e XGBoost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28600"/>
            <a:ext cx="109728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FASE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Trajetórias Comparativas nos 3 Ensaios de Teste Cego</a:t>
            </a:r>
          </a:p>
        </p:txBody>
      </p:sp>
      <p:pic>
        <p:nvPicPr>
          <p:cNvPr id="7" name="Picture 6" descr="fig_11c_trajetorias_comparativas_tes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188720"/>
            <a:ext cx="10515600" cy="34175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0A4AE"/>
                </a:solidFill>
                <a:latin typeface="Calibri"/>
              </a:defRPr>
            </a:pPr>
            <a:r>
              <a:t>Figura 11c — Sobreposição de |v(t)| preditas pelos 4 modelos vs. dados reais nos ensaios 7, 8 e 14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286000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FASE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Acoplamento Híbrido Serial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0E0"/>
                </a:solidFill>
                <a:latin typeface="Calibri"/>
              </a:defRPr>
            </a:pPr>
            <a:r>
              <a:t>DDM (Random Forest)  →  FPM (PBM Batelada)</a:t>
            </a:r>
            <a:br/>
            <a:r>
              <a:t>O Machine Learning prediz a cinética  •  A Física garante as leis de conservação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28600"/>
            <a:ext cx="109728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FASE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Etapa 4.1 — Arquitetura do Modelo Híbrido Serial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3657600" cy="1371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371600"/>
            <a:ext cx="3657600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Calibri"/>
              </a:defRPr>
            </a:pPr>
            <a:r>
              <a:t>DDM — Random Forest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9202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Prediz |v̂(t)| (µm/min)</a:t>
            </a:r>
            <a:br/>
            <a:r>
              <a:t>a partir de [T, C_A0, η, t]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2834640"/>
            <a:ext cx="73152" cy="7315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B700"/>
                </a:solidFill>
                <a:latin typeface="Calibri"/>
              </a:defRPr>
            </a:pPr>
            <a:r>
              <a:t>▼  velocidade predita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657600"/>
            <a:ext cx="3657600" cy="1371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657600"/>
            <a:ext cx="365760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3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FPM — PBM Batelada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Calcula X_Zn(t) e C_Af(t)</a:t>
            </a:r>
            <a:br/>
            <a:r>
              <a:t>com leis de conservação de massa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1887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9"/>
              </a:spcAft>
              <a:defRPr sz="2000" b="1">
                <a:solidFill>
                  <a:srgbClr val="00B4D8"/>
                </a:solidFill>
                <a:latin typeface="Calibri"/>
              </a:defRPr>
            </a:pPr>
            <a:r>
              <a:t>Restrições Físicas Ativas:</a:t>
            </a:r>
          </a:p>
          <a:p>
            <a:pPr>
              <a:spcAft>
                <a:spcPts val="639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39"/>
              </a:spcAft>
              <a:defRPr sz="1600" b="0">
                <a:solidFill>
                  <a:srgbClr val="2E7D32"/>
                </a:solidFill>
                <a:latin typeface="Calibri"/>
              </a:defRPr>
            </a:pPr>
            <a:r>
              <a:t>✓  |v̂(t)| ≥ 0  (não-negatividade)</a:t>
            </a:r>
          </a:p>
          <a:p>
            <a:pPr>
              <a:spcAft>
                <a:spcPts val="639"/>
              </a:spcAft>
              <a:defRPr sz="1600" b="0">
                <a:solidFill>
                  <a:srgbClr val="2E7D32"/>
                </a:solidFill>
                <a:latin typeface="Calibri"/>
              </a:defRPr>
            </a:pPr>
            <a:r>
              <a:t>✓  dδ/dt ≥ 0  (monotonicidade)</a:t>
            </a:r>
          </a:p>
          <a:p>
            <a:pPr>
              <a:spcAft>
                <a:spcPts val="639"/>
              </a:spcAft>
              <a:defRPr sz="1600" b="0">
                <a:solidFill>
                  <a:srgbClr val="2E7D32"/>
                </a:solidFill>
                <a:latin typeface="Calibri"/>
              </a:defRPr>
            </a:pPr>
            <a:r>
              <a:t>✓  0 ≤ X_Zn ≤ min(1, η)  (conservação de massa)</a:t>
            </a:r>
          </a:p>
          <a:p>
            <a:pPr>
              <a:spcAft>
                <a:spcPts val="639"/>
              </a:spcAft>
              <a:defRPr sz="1600" b="0">
                <a:solidFill>
                  <a:srgbClr val="2E7D32"/>
                </a:solidFill>
                <a:latin typeface="Calibri"/>
              </a:defRPr>
            </a:pPr>
            <a:r>
              <a:t>✓  C_Af = C_A0·(1 - X_Zn/η) ≥ 0</a:t>
            </a:r>
          </a:p>
          <a:p>
            <a:pPr>
              <a:spcAft>
                <a:spcPts val="639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39"/>
              </a:spcAft>
              <a:defRPr sz="1700" b="1">
                <a:solidFill>
                  <a:srgbClr val="00B4D8"/>
                </a:solidFill>
                <a:latin typeface="Calibri"/>
              </a:defRPr>
            </a:pPr>
            <a:r>
              <a:t>Características Técnicas:</a:t>
            </a:r>
          </a:p>
          <a:p>
            <a:pPr>
              <a:spcAft>
                <a:spcPts val="639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 Malha ultra-fina: 500 nós (Δt ≤ 0,03 min)</a:t>
            </a:r>
          </a:p>
          <a:p>
            <a:pPr>
              <a:spcAft>
                <a:spcPts val="639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 Auto-carregamento do modelo campeão</a:t>
            </a:r>
          </a:p>
          <a:p>
            <a:pPr>
              <a:spcAft>
                <a:spcPts val="639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 Plugabilidade: RF, MLP, XGB ou SVR</a:t>
            </a:r>
          </a:p>
          <a:p>
            <a:pPr>
              <a:spcAft>
                <a:spcPts val="639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•  Tempo de simulação: ~0,05 s por ensaio</a:t>
            </a:r>
          </a:p>
          <a:p>
            <a:pPr>
              <a:spcAft>
                <a:spcPts val="639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39"/>
              </a:spcAft>
              <a:defRPr sz="1600" b="1">
                <a:solidFill>
                  <a:srgbClr val="FFB700"/>
                </a:solidFill>
                <a:latin typeface="Calibri"/>
              </a:defRPr>
            </a:pPr>
            <a:r>
              <a:t>Validação no Teste Cego (3 ensaios):</a:t>
            </a:r>
          </a:p>
          <a:p>
            <a:pPr>
              <a:spcAft>
                <a:spcPts val="639"/>
              </a:spcAft>
              <a:defRPr sz="1600" b="1">
                <a:solidFill>
                  <a:srgbClr val="FFB700"/>
                </a:solidFill>
                <a:latin typeface="Calibri"/>
              </a:defRPr>
            </a:pPr>
            <a:r>
              <a:t>R² médio = 0,9858  |  RMSE = 0,029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28600"/>
            <a:ext cx="109728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FASE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Etapa 4.2 — O Benchmark Triplo Definitivo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3566160" cy="4114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3566160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7ACC"/>
                </a:solidFill>
                <a:latin typeface="Calibri"/>
              </a:defRPr>
            </a:pPr>
            <a:r>
              <a:t>FPM PURO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0A4AE"/>
                </a:solidFill>
                <a:latin typeface="Calibri"/>
              </a:defRPr>
            </a:pPr>
            <a:r>
              <a:t>White-Box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688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0E0"/>
                </a:solidFill>
                <a:latin typeface="Calibri"/>
              </a:defRPr>
            </a:pPr>
            <a:r>
              <a:t>α = 5500 fixo</a:t>
            </a:r>
            <a:br/>
            <a:r>
              <a:t>Alta interpretabilidade</a:t>
            </a:r>
            <a:br/>
            <a:r>
              <a:t>Rigidez matemática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206240"/>
            <a:ext cx="2651760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2452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R² = 0,9030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280160"/>
            <a:ext cx="3566160" cy="4114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280160"/>
            <a:ext cx="3566160" cy="7315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53935"/>
                </a:solidFill>
                <a:latin typeface="Calibri"/>
              </a:defRPr>
            </a:pPr>
            <a:r>
              <a:t>DDM PURO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0A4AE"/>
                </a:solidFill>
                <a:latin typeface="Calibri"/>
              </a:defRPr>
            </a:pPr>
            <a:r>
              <a:t>Black-Box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4688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0E0"/>
                </a:solidFill>
                <a:latin typeface="Calibri"/>
              </a:defRPr>
            </a:pPr>
            <a:r>
              <a:t>RF em malha aberta</a:t>
            </a:r>
            <a:br/>
            <a:r>
              <a:t>Sem conservação de massa</a:t>
            </a:r>
            <a:br/>
            <a:r>
              <a:t>Viola estequiometria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4206240"/>
            <a:ext cx="2651760" cy="54864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422452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R² = 0,7659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1280160"/>
            <a:ext cx="3566160" cy="4114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1280160"/>
            <a:ext cx="356616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E7D32"/>
                </a:solidFill>
                <a:latin typeface="Calibri"/>
              </a:defRPr>
            </a:pPr>
            <a:r>
              <a:t>HÍBRIDO SERIAL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0A4AE"/>
                </a:solidFill>
                <a:latin typeface="Calibri"/>
              </a:defRPr>
            </a:pPr>
            <a:r>
              <a:t>Grey-Box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4688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0E0"/>
                </a:solidFill>
                <a:latin typeface="Calibri"/>
              </a:defRPr>
            </a:pPr>
            <a:r>
              <a:t>RF → PBM</a:t>
            </a:r>
            <a:br/>
            <a:r>
              <a:t>ML prediz cinética</a:t>
            </a:r>
            <a:br/>
            <a:r>
              <a:t>Física garante leis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4206240"/>
            <a:ext cx="265176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422452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R² = 0,9737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669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9"/>
              </a:spcAft>
              <a:defRPr sz="1800" b="1">
                <a:solidFill>
                  <a:srgbClr val="FFB700"/>
                </a:solidFill>
                <a:latin typeface="Calibri"/>
              </a:defRPr>
            </a:pPr>
            <a:r>
              <a:t>Redução de RMSE:  Híbrido vs. FPM = 47,9%   |   Híbrido vs. DDM = 66,5%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28600"/>
            <a:ext cx="109728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FASE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Reconstrução de X_Zn(t) pelo Híbrido Serial — 16 Ensaios</a:t>
            </a:r>
          </a:p>
        </p:txBody>
      </p:sp>
      <p:pic>
        <p:nvPicPr>
          <p:cNvPr id="7" name="Picture 6" descr="fig_12a_reconstrucao_XZn_hibrido_16_ensa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5519" y="1188720"/>
            <a:ext cx="6160656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0A4AE"/>
                </a:solidFill>
                <a:latin typeface="Calibri"/>
              </a:defRPr>
            </a:pPr>
            <a:r>
              <a:t>Figura 12a — Painel 4×4 completo: Experimental (●) vs. FPM Puro (--) vs. Híbrido Serial (—) nos 16 ensaios de bancada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28600"/>
            <a:ext cx="109728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FASE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Diagramas de Paridade — FPM vs. DDM vs. Híbrido</a:t>
            </a:r>
          </a:p>
        </p:txBody>
      </p:sp>
      <p:pic>
        <p:nvPicPr>
          <p:cNvPr id="7" name="Picture 6" descr="fig_12b_paridade_XZn_3mode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188720"/>
            <a:ext cx="10515600" cy="37309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0A4AE"/>
                </a:solidFill>
                <a:latin typeface="Calibri"/>
              </a:defRPr>
            </a:pPr>
            <a:r>
              <a:t>Figura 12b — Paridade 1:1 com bandas de ±5% e ±10%  |  O Híbrido concentra todos os pontos na diagonal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28600"/>
            <a:ext cx="109728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FASE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Comparativo Global de R² e RMSE por Partição</a:t>
            </a:r>
          </a:p>
        </p:txBody>
      </p:sp>
      <p:pic>
        <p:nvPicPr>
          <p:cNvPr id="7" name="Picture 6" descr="fig_12c_comparativo_global_XZn_bar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188720"/>
            <a:ext cx="10515600" cy="41353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0A4AE"/>
                </a:solidFill>
                <a:latin typeface="Calibri"/>
              </a:defRPr>
            </a:pPr>
            <a:r>
              <a:t>Figura 12c — Barras de R² e RMSE para Treino (13 ens.), Teste Cego (3 ens.) e Global (16 ens.)  |  Híbrido lidera em todas as partições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28600"/>
            <a:ext cx="109728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FASE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Heatmap de Ganho Relativo do Híbrido — 16 Ensaios</a:t>
            </a:r>
          </a:p>
        </p:txBody>
      </p:sp>
      <p:pic>
        <p:nvPicPr>
          <p:cNvPr id="7" name="Picture 6" descr="fig_12d_heatmap_ganho_relativo_hibr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188720"/>
            <a:ext cx="10515600" cy="44128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0A4AE"/>
                </a:solidFill>
                <a:latin typeface="Calibri"/>
              </a:defRPr>
            </a:pPr>
            <a:r>
              <a:t>Figura 12d — Matriz 4×4 de ΔR² e % de redução de RMSE do Híbrido Serial vs. FPM Puro por ensaio individual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28600"/>
            <a:ext cx="109728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FASE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Resultados Consolidados — Benchmark Triplo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188720"/>
                <a:gridCol w="1097280"/>
                <a:gridCol w="1097280"/>
                <a:gridCol w="118872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Modelo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R² Global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Erro Máx.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R² Teste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FPM Puro (α = 5500)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0,9030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0,1010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0,0699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0,3815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0,9616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DDM Puro (RF aberto)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0,7659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0,1569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0,0987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0,3854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Híbrido Serial (RF→PBM)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0,9737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0,0526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0,0338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0,1832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0,9880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3200400"/>
            <a:ext cx="1124712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9"/>
              </a:spcAft>
              <a:defRPr sz="1800" b="1">
                <a:solidFill>
                  <a:srgbClr val="E53935"/>
                </a:solidFill>
                <a:latin typeface="Calibri"/>
              </a:defRPr>
            </a:pPr>
            <a:r>
              <a:t>⚠ Falha Crítica do DDM Puro</a:t>
            </a:r>
          </a:p>
          <a:p>
            <a:pPr>
              <a:spcAft>
                <a:spcPts val="639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39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Nos ensaios com η = 0,5 (déficit de ácido):</a:t>
            </a:r>
          </a:p>
          <a:p>
            <a:pPr>
              <a:spcAft>
                <a:spcPts val="639"/>
              </a:spcAft>
              <a:defRPr sz="1400" b="0">
                <a:solidFill>
                  <a:srgbClr val="E53935"/>
                </a:solidFill>
                <a:latin typeface="Calibri"/>
              </a:defRPr>
            </a:pPr>
            <a:r>
              <a:t>DDM previu X_Zn = 0,81 a 0,84</a:t>
            </a:r>
          </a:p>
          <a:p>
            <a:pPr>
              <a:spcAft>
                <a:spcPts val="639"/>
              </a:spcAft>
              <a:defRPr sz="1400" b="0">
                <a:solidFill>
                  <a:srgbClr val="E53935"/>
                </a:solidFill>
                <a:latin typeface="Calibri"/>
              </a:defRPr>
            </a:pPr>
            <a:r>
              <a:t>quando o limite físico é X_Zn = 0,50</a:t>
            </a:r>
          </a:p>
          <a:p>
            <a:pPr>
              <a:spcAft>
                <a:spcPts val="639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39"/>
              </a:spcAft>
              <a:defRPr sz="1300" b="0">
                <a:solidFill>
                  <a:srgbClr val="90A4AE"/>
                </a:solidFill>
                <a:latin typeface="Calibri"/>
              </a:defRPr>
            </a:pPr>
            <a:r>
              <a:t>R² individuais: -3,19 / -1,65 / -1,48 / -3,12</a:t>
            </a:r>
          </a:p>
          <a:p>
            <a:pPr>
              <a:spcAft>
                <a:spcPts val="639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39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Causa: ausência de retroalimentação de C_Af(t)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3832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9"/>
              </a:spcAft>
              <a:defRPr sz="1800" b="1">
                <a:solidFill>
                  <a:srgbClr val="2E7D32"/>
                </a:solidFill>
                <a:latin typeface="Calibri"/>
              </a:defRPr>
            </a:pPr>
            <a:r>
              <a:t>✓ Correção pelo Híbrido Serial</a:t>
            </a:r>
          </a:p>
          <a:p>
            <a:pPr>
              <a:spcAft>
                <a:spcPts val="639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39"/>
              </a:spcAft>
              <a:defRPr sz="1400" b="0">
                <a:solidFill>
                  <a:srgbClr val="2E7D32"/>
                </a:solidFill>
                <a:latin typeface="Calibri"/>
              </a:defRPr>
            </a:pPr>
            <a:r>
              <a:t>O PBM impõe X_Zn ≤ min(1, η)</a:t>
            </a:r>
          </a:p>
          <a:p>
            <a:pPr>
              <a:spcAft>
                <a:spcPts val="639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congela δ(t) e zera |v(t)| no esgotamento</a:t>
            </a:r>
          </a:p>
          <a:p>
            <a:pPr>
              <a:spcAft>
                <a:spcPts val="639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39"/>
              </a:spcAft>
              <a:defRPr sz="1400" b="1">
                <a:solidFill>
                  <a:srgbClr val="2E7D32"/>
                </a:solidFill>
                <a:latin typeface="Calibri"/>
              </a:defRPr>
            </a:pPr>
            <a:r>
              <a:t>R² elevados para 0,951 a 0,989</a:t>
            </a:r>
          </a:p>
          <a:p>
            <a:pPr>
              <a:spcAft>
                <a:spcPts val="639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39"/>
              </a:spcAft>
              <a:defRPr sz="1400" b="1">
                <a:solidFill>
                  <a:srgbClr val="FFB700"/>
                </a:solidFill>
                <a:latin typeface="Calibri"/>
              </a:defRPr>
            </a:pPr>
            <a:r>
              <a:t>→ Consistência física 100% garantida:</a:t>
            </a:r>
          </a:p>
          <a:p>
            <a:pPr>
              <a:spcAft>
                <a:spcPts val="639"/>
              </a:spcAft>
              <a:defRPr sz="1400" b="0">
                <a:solidFill>
                  <a:srgbClr val="FFB700"/>
                </a:solidFill>
                <a:latin typeface="Calibri"/>
              </a:defRPr>
            </a:pPr>
            <a:r>
              <a:t>   0 ≤ X_Zn ≤ η  e  C_Af ≥ 0  em 128/128 pts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Evolução da Precisão ao Longo das Fases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37160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FPM Puro (α fixo)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463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0"/>
                </a:solidFill>
                <a:latin typeface="Calibri"/>
              </a:defRPr>
            </a:pPr>
            <a:r>
              <a:t>R² = 0,9030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Calibri"/>
              </a:defRPr>
            </a:pPr>
            <a:r>
              <a:t>RMSE = 10,10%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3200400" cy="1097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2889961" cy="10972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1371600" cy="640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3774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377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Inversão PBM (alvos)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Calibri"/>
              </a:defRPr>
            </a:pPr>
            <a:r>
              <a:t>R² = 0,9990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Calibri"/>
              </a:defRPr>
            </a:pPr>
            <a:r>
              <a:t>RMSE = 1,05%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17520"/>
            <a:ext cx="3200400" cy="1097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017520"/>
            <a:ext cx="3197199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200400"/>
            <a:ext cx="1371600" cy="640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2918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FASE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291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RF isolado (|v| teste)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3291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0"/>
                </a:solidFill>
                <a:latin typeface="Calibri"/>
              </a:defRPr>
            </a:pPr>
            <a:r>
              <a:t>R² = 0,9120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291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Calibri"/>
              </a:defRPr>
            </a:pPr>
            <a:r>
              <a:t>RMSE = 19,33 µm/min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31920"/>
            <a:ext cx="3200400" cy="1097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931920"/>
            <a:ext cx="2918764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114800"/>
            <a:ext cx="1371600" cy="64008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2062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FASE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4206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Híbrido RF → PBM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4206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Calibri"/>
              </a:defRPr>
            </a:pPr>
            <a:r>
              <a:t>R² = 0,9737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4206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Calibri"/>
              </a:defRPr>
            </a:pPr>
            <a:r>
              <a:t>RMSE = 5,26%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846320"/>
            <a:ext cx="3200400" cy="1097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846320"/>
            <a:ext cx="3116229" cy="10972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5303520"/>
            <a:ext cx="11247120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303520"/>
            <a:ext cx="1124712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t>Suíte de Testes Automatizados:  61 testes unitários  •  100% aprovados  •  Cobertura completa das Fases 0 a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Fase 1: 14 testes  |  Fase 2: 4 testes  |  Fase 3: 30 testes  |  Fase 4: 13 testes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7ACC"/>
                </a:solidFill>
                <a:latin typeface="Calibri"/>
              </a:defRPr>
            </a:pPr>
            <a:r>
              <a:t>CONCLUSÕES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457200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9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O Modelo Híbrido Serial (RF → PBM) está plenamente operacional:</a:t>
            </a:r>
          </a:p>
          <a:p>
            <a:pPr>
              <a:spcAft>
                <a:spcPts val="639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39"/>
              </a:spcAft>
              <a:defRPr sz="1800" b="1">
                <a:solidFill>
                  <a:srgbClr val="2E7D32"/>
                </a:solidFill>
                <a:latin typeface="Calibri"/>
              </a:defRPr>
            </a:pPr>
            <a:r>
              <a:t>•  R² = 0,9737 global  |  R² = 0,9880 no teste cego</a:t>
            </a:r>
          </a:p>
          <a:p>
            <a:pPr>
              <a:spcAft>
                <a:spcPts val="639"/>
              </a:spcAft>
              <a:defRPr sz="1800" b="1">
                <a:solidFill>
                  <a:srgbClr val="2E7D32"/>
                </a:solidFill>
                <a:latin typeface="Calibri"/>
              </a:defRPr>
            </a:pPr>
            <a:r>
              <a:t>•  Redução de 47,9% no RMSE vs. modelo mecanicista clássico</a:t>
            </a:r>
          </a:p>
          <a:p>
            <a:pPr>
              <a:spcAft>
                <a:spcPts val="639"/>
              </a:spcAft>
              <a:defRPr sz="1800" b="1">
                <a:solidFill>
                  <a:srgbClr val="2E7D32"/>
                </a:solidFill>
                <a:latin typeface="Calibri"/>
              </a:defRPr>
            </a:pPr>
            <a:r>
              <a:t>•  Zero violações termodinâmicas (0 ≤ X_Zn ≤ η  e  C_Af ≥ 0)</a:t>
            </a:r>
          </a:p>
          <a:p>
            <a:pPr>
              <a:spcAft>
                <a:spcPts val="639"/>
              </a:spcAft>
              <a:defRPr sz="1700" b="0">
                <a:solidFill>
                  <a:srgbClr val="2E7D32"/>
                </a:solidFill>
                <a:latin typeface="Calibri"/>
              </a:defRPr>
            </a:pPr>
            <a:r>
              <a:t>•  61 testes unitários automatizados — 100% de aprovação</a:t>
            </a:r>
          </a:p>
          <a:p>
            <a:pPr>
              <a:spcAft>
                <a:spcPts val="639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•  Código modular SOLID com tipagem estática e documentação completa</a:t>
            </a:r>
          </a:p>
          <a:p>
            <a:pPr>
              <a:spcAft>
                <a:spcPts val="639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39"/>
              </a:spcAft>
              <a:defRPr sz="2200" b="1">
                <a:solidFill>
                  <a:srgbClr val="FFB700"/>
                </a:solidFill>
                <a:latin typeface="Calibri"/>
              </a:defRPr>
            </a:pPr>
            <a:r>
              <a:t>Próximos Passos:</a:t>
            </a:r>
          </a:p>
          <a:p>
            <a:pPr>
              <a:spcAft>
                <a:spcPts val="639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•  Fase 5 — Validação cruzada independente nos dados de Balarini (2009/2025)</a:t>
            </a:r>
          </a:p>
          <a:p>
            <a:pPr>
              <a:spcAft>
                <a:spcPts val="639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•  Fase 6 — Transfer Learning e Regime Contínuo (Planta Piloto: CSTRs)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0A4AE"/>
                </a:solidFill>
                <a:latin typeface="Calibri"/>
              </a:defRPr>
            </a:pPr>
            <a:r>
              <a:t>Projeto LOP — UFMG  •  Setembro de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